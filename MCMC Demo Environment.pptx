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CP demo environment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37744"/>
            <a:ext cx="813816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500" b="1">
                <a:solidFill>
                  <a:srgbClr val="142536"/>
                </a:solidFill>
                <a:latin typeface="Aptos"/>
              </a:rPr>
              <a:t>MCP demo environment: four governed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8412480" cy="2651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0">
                <a:solidFill>
                  <a:srgbClr val="62717D"/>
                </a:solidFill>
                <a:latin typeface="Aptos"/>
              </a:rPr>
              <a:t>2 ingress choices × 2 authorization choices • same private MCP service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87552"/>
            <a:ext cx="166420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TEST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987552"/>
            <a:ext cx="106984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987552"/>
            <a:ext cx="150876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APIM INGRESS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987552"/>
            <a:ext cx="1993392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987552"/>
            <a:ext cx="163677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MCP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5752" y="987552"/>
            <a:ext cx="2276856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OBSERVED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335024"/>
            <a:ext cx="1664208" cy="566928"/>
          </a:xfrm>
          <a:prstGeom prst="roundRect">
            <a:avLst>
              <a:gd name="adj" fmla="val 8000"/>
            </a:avLst>
          </a:prstGeom>
          <a:solidFill>
            <a:srgbClr val="007C91"/>
          </a:solidFill>
          <a:ln w="12700"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1532310"/>
            <a:ext cx="1591056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AGENT </a:t>
            </a:r>
            <a:r>
              <a:rPr sz="1000" b="1" dirty="0">
                <a:solidFill>
                  <a:srgbClr val="FFFFFF"/>
                </a:solidFill>
                <a:latin typeface="Aptos"/>
              </a:rPr>
              <a:t>PUBLIC GATEWAY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21408" y="1618488"/>
            <a:ext cx="173736" cy="0"/>
          </a:xfrm>
          <a:prstGeom prst="line">
            <a:avLst/>
          </a:prstGeom>
          <a:ln w="27940">
            <a:solidFill>
              <a:srgbClr val="00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313432" y="1335024"/>
            <a:ext cx="1069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68296" y="1371600"/>
            <a:ext cx="960120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007C91"/>
                </a:solidFill>
                <a:latin typeface="Aptos"/>
              </a:rPr>
              <a:t>Internet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1618488"/>
            <a:ext cx="192024" cy="0"/>
          </a:xfrm>
          <a:prstGeom prst="line">
            <a:avLst/>
          </a:prstGeom>
          <a:ln w="27940">
            <a:solidFill>
              <a:srgbClr val="00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93592" y="1335024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1371600"/>
            <a:ext cx="1380744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007C91"/>
                </a:solidFill>
                <a:latin typeface="Aptos"/>
              </a:rPr>
              <a:t>Public APIM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02352" y="1618488"/>
            <a:ext cx="210312" cy="0"/>
          </a:xfrm>
          <a:prstGeom prst="line">
            <a:avLst/>
          </a:prstGeom>
          <a:ln w="27940">
            <a:solidFill>
              <a:srgbClr val="0B6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30952" y="1335024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EDF4F1"/>
          </a:solidFill>
          <a:ln w="12700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04104" y="1371600"/>
            <a:ext cx="1847088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0B6E4F"/>
                </a:solidFill>
                <a:latin typeface="Aptos"/>
              </a:rPr>
              <a:t>Entra token + group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24344" y="1618488"/>
            <a:ext cx="210312" cy="0"/>
          </a:xfrm>
          <a:prstGeom prst="line">
            <a:avLst/>
          </a:prstGeom>
          <a:ln w="27940">
            <a:solidFill>
              <a:srgbClr val="0B6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52944" y="1335024"/>
            <a:ext cx="163677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26096" y="1362456"/>
            <a:ext cx="1490472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0B6E4F"/>
                </a:solidFill>
                <a:latin typeface="Aptos"/>
              </a:rPr>
              <a:t>Gateway MCP
(trusted mode)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9720" y="1618488"/>
            <a:ext cx="237744" cy="0"/>
          </a:xfrm>
          <a:prstGeom prst="line">
            <a:avLst/>
          </a:prstGeom>
          <a:ln w="27940">
            <a:solidFill>
              <a:srgbClr val="0B6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45752" y="1335024"/>
            <a:ext cx="2276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37192" y="1362456"/>
            <a:ext cx="2093976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53746"/>
                </a:solidFill>
                <a:latin typeface="Aptos"/>
              </a:rPr>
              <a:t>James / Jane: 4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112264"/>
            <a:ext cx="1664208" cy="566928"/>
          </a:xfrm>
          <a:prstGeom prst="roundRect">
            <a:avLst>
              <a:gd name="adj" fmla="val 8000"/>
            </a:avLst>
          </a:prstGeom>
          <a:solidFill>
            <a:srgbClr val="007C91"/>
          </a:solidFill>
          <a:ln w="12700"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" y="2309550"/>
            <a:ext cx="1591056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AGENT </a:t>
            </a:r>
            <a:r>
              <a:rPr sz="1000" b="1" dirty="0">
                <a:solidFill>
                  <a:srgbClr val="FFFFFF"/>
                </a:solidFill>
                <a:latin typeface="Aptos"/>
              </a:rPr>
              <a:t>PUBLIC NATIVE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121408" y="2395728"/>
            <a:ext cx="173736" cy="0"/>
          </a:xfrm>
          <a:prstGeom prst="line">
            <a:avLst/>
          </a:prstGeom>
          <a:ln w="27940">
            <a:solidFill>
              <a:srgbClr val="00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313432" y="2112264"/>
            <a:ext cx="1069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368296" y="2148840"/>
            <a:ext cx="960120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007C91"/>
                </a:solidFill>
                <a:latin typeface="Aptos"/>
              </a:rPr>
              <a:t>Internet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83280" y="2395728"/>
            <a:ext cx="192024" cy="0"/>
          </a:xfrm>
          <a:prstGeom prst="line">
            <a:avLst/>
          </a:prstGeom>
          <a:ln w="27940">
            <a:solidFill>
              <a:srgbClr val="007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593592" y="2112264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0" y="2148840"/>
            <a:ext cx="1380744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007C91"/>
                </a:solidFill>
                <a:latin typeface="Aptos"/>
              </a:rPr>
              <a:t>Public APIM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02352" y="2395728"/>
            <a:ext cx="210312" cy="0"/>
          </a:xfrm>
          <a:prstGeom prst="line">
            <a:avLst/>
          </a:prstGeom>
          <a:ln w="2794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30952" y="2112264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4104" y="2148840"/>
            <a:ext cx="1847088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364AA"/>
                </a:solidFill>
                <a:latin typeface="Aptos"/>
              </a:rPr>
              <a:t>OAuth token passes through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324344" y="2395728"/>
            <a:ext cx="210312" cy="0"/>
          </a:xfrm>
          <a:prstGeom prst="line">
            <a:avLst/>
          </a:prstGeom>
          <a:ln w="2794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552944" y="2112264"/>
            <a:ext cx="163677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26096" y="2139696"/>
            <a:ext cx="1490472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364AA"/>
                </a:solidFill>
                <a:latin typeface="Aptos"/>
              </a:rPr>
              <a:t>Native MCP
(OAuth-aware)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89720" y="2395728"/>
            <a:ext cx="237744" cy="0"/>
          </a:xfrm>
          <a:prstGeom prst="line">
            <a:avLst/>
          </a:prstGeom>
          <a:ln w="2794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445752" y="2112264"/>
            <a:ext cx="2276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37192" y="2139696"/>
            <a:ext cx="2093976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53746"/>
                </a:solidFill>
                <a:latin typeface="Aptos"/>
              </a:rPr>
              <a:t>James: 1001, 1002
Jane: 1003, 1004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2889504"/>
            <a:ext cx="1664208" cy="566928"/>
          </a:xfrm>
          <a:prstGeom prst="roundRect">
            <a:avLst>
              <a:gd name="adj" fmla="val 8000"/>
            </a:avLst>
          </a:prstGeom>
          <a:solidFill>
            <a:srgbClr val="C75B12"/>
          </a:solidFill>
          <a:ln w="12700">
            <a:solidFill>
              <a:srgbClr val="C7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3776" y="3086790"/>
            <a:ext cx="1591056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AGENT </a:t>
            </a:r>
            <a:r>
              <a:rPr sz="1000" b="1" dirty="0">
                <a:solidFill>
                  <a:srgbClr val="FFFFFF"/>
                </a:solidFill>
                <a:latin typeface="Aptos"/>
              </a:rPr>
              <a:t>PRIVATE GATEWAY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121408" y="3172968"/>
            <a:ext cx="173736" cy="0"/>
          </a:xfrm>
          <a:prstGeom prst="line">
            <a:avLst/>
          </a:prstGeom>
          <a:ln w="27940">
            <a:solidFill>
              <a:srgbClr val="C75B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313432" y="2889504"/>
            <a:ext cx="1069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68296" y="2926080"/>
            <a:ext cx="960120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C75B12"/>
                </a:solidFill>
                <a:latin typeface="Aptos"/>
              </a:rPr>
              <a:t>Private VNet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383280" y="3172968"/>
            <a:ext cx="192024" cy="0"/>
          </a:xfrm>
          <a:prstGeom prst="line">
            <a:avLst/>
          </a:prstGeom>
          <a:ln w="27940">
            <a:solidFill>
              <a:srgbClr val="C75B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593592" y="2889504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0" y="2926080"/>
            <a:ext cx="1380744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C75B12"/>
                </a:solidFill>
                <a:latin typeface="Aptos"/>
              </a:rPr>
              <a:t>Private APIM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102352" y="3172968"/>
            <a:ext cx="210312" cy="0"/>
          </a:xfrm>
          <a:prstGeom prst="line">
            <a:avLst/>
          </a:prstGeom>
          <a:ln w="27940">
            <a:solidFill>
              <a:srgbClr val="0B6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330952" y="2889504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EDF4F1"/>
          </a:solidFill>
          <a:ln w="12700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04104" y="2926080"/>
            <a:ext cx="1847088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0B6E4F"/>
                </a:solidFill>
                <a:latin typeface="Aptos"/>
              </a:rPr>
              <a:t>Entra token + group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324344" y="3172968"/>
            <a:ext cx="210312" cy="0"/>
          </a:xfrm>
          <a:prstGeom prst="line">
            <a:avLst/>
          </a:prstGeom>
          <a:ln w="27940">
            <a:solidFill>
              <a:srgbClr val="0B6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552944" y="2889504"/>
            <a:ext cx="163677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626096" y="2916936"/>
            <a:ext cx="1490472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0B6E4F"/>
                </a:solidFill>
                <a:latin typeface="Aptos"/>
              </a:rPr>
              <a:t>Gateway MCP
(trusted mode)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189720" y="3172968"/>
            <a:ext cx="237744" cy="0"/>
          </a:xfrm>
          <a:prstGeom prst="line">
            <a:avLst/>
          </a:prstGeom>
          <a:ln w="27940">
            <a:solidFill>
              <a:srgbClr val="0B6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445752" y="2889504"/>
            <a:ext cx="2276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37192" y="2916936"/>
            <a:ext cx="2093976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53746"/>
                </a:solidFill>
                <a:latin typeface="Aptos"/>
              </a:rPr>
              <a:t>James / Jane: 4 records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3666744"/>
            <a:ext cx="1664208" cy="566928"/>
          </a:xfrm>
          <a:prstGeom prst="roundRect">
            <a:avLst>
              <a:gd name="adj" fmla="val 8000"/>
            </a:avLst>
          </a:prstGeom>
          <a:solidFill>
            <a:srgbClr val="C75B12"/>
          </a:solidFill>
          <a:ln w="12700">
            <a:solidFill>
              <a:srgbClr val="C7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3776" y="3864029"/>
            <a:ext cx="1591056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AGENT </a:t>
            </a:r>
            <a:r>
              <a:rPr sz="1000" b="1" dirty="0">
                <a:solidFill>
                  <a:srgbClr val="FFFFFF"/>
                </a:solidFill>
                <a:latin typeface="Aptos"/>
              </a:rPr>
              <a:t>PRIVATE NATIVE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121408" y="3950207"/>
            <a:ext cx="173736" cy="0"/>
          </a:xfrm>
          <a:prstGeom prst="line">
            <a:avLst/>
          </a:prstGeom>
          <a:ln w="27940">
            <a:solidFill>
              <a:srgbClr val="C75B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2313432" y="3666744"/>
            <a:ext cx="106984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368296" y="3703320"/>
            <a:ext cx="960120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C75B12"/>
                </a:solidFill>
                <a:latin typeface="Aptos"/>
              </a:rPr>
              <a:t>Private VNet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383280" y="3950207"/>
            <a:ext cx="192024" cy="0"/>
          </a:xfrm>
          <a:prstGeom prst="line">
            <a:avLst/>
          </a:prstGeom>
          <a:ln w="27940">
            <a:solidFill>
              <a:srgbClr val="C75B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3593592" y="3666744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5B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57600" y="3703320"/>
            <a:ext cx="1380744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50" b="1">
                <a:solidFill>
                  <a:srgbClr val="C75B12"/>
                </a:solidFill>
                <a:latin typeface="Aptos"/>
              </a:rPr>
              <a:t>Private APIM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102352" y="3950207"/>
            <a:ext cx="210312" cy="0"/>
          </a:xfrm>
          <a:prstGeom prst="line">
            <a:avLst/>
          </a:prstGeom>
          <a:ln w="2794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330952" y="3666744"/>
            <a:ext cx="1993392" cy="566928"/>
          </a:xfrm>
          <a:prstGeom prst="roundRect">
            <a:avLst>
              <a:gd name="adj" fmla="val 8000"/>
            </a:avLst>
          </a:prstGeom>
          <a:solidFill>
            <a:srgbClr val="EAF1F9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04104" y="3703320"/>
            <a:ext cx="1847088" cy="4937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2364AA"/>
                </a:solidFill>
                <a:latin typeface="Aptos"/>
              </a:rPr>
              <a:t>OAuth token passes through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324344" y="3950207"/>
            <a:ext cx="210312" cy="0"/>
          </a:xfrm>
          <a:prstGeom prst="line">
            <a:avLst/>
          </a:prstGeom>
          <a:ln w="2794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552944" y="3666744"/>
            <a:ext cx="163677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626096" y="3694176"/>
            <a:ext cx="1490472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364AA"/>
                </a:solidFill>
                <a:latin typeface="Aptos"/>
              </a:rPr>
              <a:t>Native MCP
(OAuth-aware)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189720" y="3950207"/>
            <a:ext cx="237744" cy="0"/>
          </a:xfrm>
          <a:prstGeom prst="line">
            <a:avLst/>
          </a:prstGeom>
          <a:ln w="27940">
            <a:solidFill>
              <a:srgbClr val="236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445752" y="3666744"/>
            <a:ext cx="2276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537192" y="3694176"/>
            <a:ext cx="2093976" cy="5120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1">
                <a:solidFill>
                  <a:srgbClr val="253746"/>
                </a:solidFill>
                <a:latin typeface="Aptos"/>
              </a:rPr>
              <a:t>James: 1001, 1002
Jane: 1003, 1004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58184" y="2404872"/>
            <a:ext cx="1188720" cy="1645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50" b="1">
                <a:solidFill>
                  <a:srgbClr val="007C91"/>
                </a:solidFill>
                <a:latin typeface="Aptos"/>
              </a:rPr>
              <a:t>PUBLIC INGRESS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58184" y="3959352"/>
            <a:ext cx="1188720" cy="1645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750" b="1">
                <a:solidFill>
                  <a:srgbClr val="C75B12"/>
                </a:solidFill>
                <a:latin typeface="Aptos"/>
              </a:rPr>
              <a:t>PRIVATE INGRESS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4526280"/>
            <a:ext cx="987552" cy="310896"/>
          </a:xfrm>
          <a:prstGeom prst="roundRect">
            <a:avLst>
              <a:gd name="adj" fmla="val 8000"/>
            </a:avLst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93776" y="4544568"/>
            <a:ext cx="91440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BILL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554480" y="4443984"/>
            <a:ext cx="4828032" cy="475488"/>
          </a:xfrm>
          <a:prstGeom prst="roundRect">
            <a:avLst>
              <a:gd name="adj" fmla="val 8000"/>
            </a:avLst>
          </a:prstGeom>
          <a:solidFill>
            <a:srgbClr val="FFF4F2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664208" y="4480560"/>
            <a:ext cx="4608576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40" b="1">
                <a:solidFill>
                  <a:srgbClr val="B42318"/>
                </a:solidFill>
                <a:latin typeface="Aptos"/>
              </a:rPr>
              <a:t>GATEWAY PATH  •  Not in mcmc-customer-admins → APIM returns 403 → backend is not called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519672" y="4443984"/>
            <a:ext cx="5202936" cy="475488"/>
          </a:xfrm>
          <a:prstGeom prst="roundRect">
            <a:avLst>
              <a:gd name="adj" fmla="val 8000"/>
            </a:avLst>
          </a:prstGeom>
          <a:solidFill>
            <a:srgbClr val="F2F6FC"/>
          </a:solidFill>
          <a:ln w="127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629400" y="4480560"/>
            <a:ext cx="4983480" cy="3931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40" b="1">
                <a:solidFill>
                  <a:srgbClr val="2364AA"/>
                </a:solidFill>
                <a:latin typeface="Aptos"/>
              </a:rPr>
              <a:t>NATIVE PATH  •  Valid OAuth identity → MCP policy finds no assigned records → empty list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5138928"/>
            <a:ext cx="38404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00" b="1">
                <a:solidFill>
                  <a:srgbClr val="62717D"/>
                </a:solidFill>
                <a:latin typeface="Aptos"/>
              </a:rPr>
              <a:t>TEST USERS AND CUSTOMER ACCESS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5431536"/>
            <a:ext cx="3410712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594360" y="5577840"/>
            <a:ext cx="457200" cy="457200"/>
          </a:xfrm>
          <a:prstGeom prst="ellipse">
            <a:avLst/>
          </a:prstGeom>
          <a:solidFill>
            <a:srgbClr val="DDF3E8"/>
          </a:solidFill>
          <a:ln>
            <a:solidFill>
              <a:srgbClr val="0B6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5577840"/>
            <a:ext cx="457200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0B6E4F"/>
                </a:solidFill>
                <a:latin typeface="Aptos"/>
              </a:rPr>
              <a:t>J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70432" y="5504688"/>
            <a:ext cx="758952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142536"/>
                </a:solidFill>
                <a:latin typeface="Aptos"/>
              </a:rPr>
              <a:t>James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70432" y="5751576"/>
            <a:ext cx="25146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0B6E4F"/>
                </a:solidFill>
                <a:latin typeface="Aptos"/>
              </a:rPr>
              <a:t>CUST-1001  •  CUST-1002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069080" y="5431536"/>
            <a:ext cx="3410712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4206240" y="5577840"/>
            <a:ext cx="457200" cy="457200"/>
          </a:xfrm>
          <a:prstGeom prst="ellipse">
            <a:avLst/>
          </a:prstGeom>
          <a:solidFill>
            <a:srgbClr val="E5ECFA"/>
          </a:solidFill>
          <a:ln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206240" y="5577840"/>
            <a:ext cx="457200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2364AA"/>
                </a:solidFill>
                <a:latin typeface="Aptos"/>
              </a:rPr>
              <a:t>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82312" y="5504688"/>
            <a:ext cx="758952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142536"/>
                </a:solidFill>
                <a:latin typeface="Aptos"/>
              </a:rPr>
              <a:t>Jane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82312" y="5751576"/>
            <a:ext cx="25146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2364AA"/>
                </a:solidFill>
                <a:latin typeface="Aptos"/>
              </a:rPr>
              <a:t>CUST-1003  •  CUST-1004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680960" y="5431536"/>
            <a:ext cx="3410712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7818120" y="5577840"/>
            <a:ext cx="457200" cy="457200"/>
          </a:xfrm>
          <a:prstGeom prst="ellipse">
            <a:avLst/>
          </a:prstGeom>
          <a:solidFill>
            <a:srgbClr val="FDE7E5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7818120" y="5577840"/>
            <a:ext cx="457200" cy="4572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>
                <a:solidFill>
                  <a:srgbClr val="B42318"/>
                </a:solidFill>
                <a:latin typeface="Aptos"/>
              </a:rPr>
              <a:t>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94192" y="5504688"/>
            <a:ext cx="758952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50" b="1">
                <a:solidFill>
                  <a:srgbClr val="142536"/>
                </a:solidFill>
                <a:latin typeface="Aptos"/>
              </a:rPr>
              <a:t>Bill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94192" y="5751576"/>
            <a:ext cx="25146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950" b="1">
                <a:solidFill>
                  <a:srgbClr val="B42318"/>
                </a:solidFill>
                <a:latin typeface="Aptos"/>
              </a:rPr>
              <a:t>No customer records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373368"/>
            <a:ext cx="11265408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950" b="0">
                <a:solidFill>
                  <a:srgbClr val="62717D"/>
                </a:solidFill>
                <a:latin typeface="Aptos"/>
              </a:rPr>
              <a:t>Gateway authorization controls admission at APIM; native OAuth authorization controls record visibility inside the MCP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206</Words>
  <Application>Microsoft Office PowerPoint</Application>
  <PresentationFormat>Widescreen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demo environment: four governed paths</dc:title>
  <dc:subject>Public/private ingress and gateway/native OAuth authorization matrix</dc:subject>
  <dc:creator>Microsoft Copilot Studio MCP demo</dc:creator>
  <cp:keywords/>
  <dc:description>generated using python-pptx</dc:description>
  <cp:lastModifiedBy>Brendon Matheson</cp:lastModifiedBy>
  <cp:revision>4</cp:revision>
  <dcterms:created xsi:type="dcterms:W3CDTF">2013-01-27T09:14:16Z</dcterms:created>
  <dcterms:modified xsi:type="dcterms:W3CDTF">2026-09-28T11:12:27Z</dcterms:modified>
  <cp:category/>
</cp:coreProperties>
</file>